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59" d="100"/>
          <a:sy n="59" d="100"/>
        </p:scale>
        <p:origin x="452" y="5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8/16/2026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16-08-2026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16-08-2026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16-08-2026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16-08-2026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16-08-2026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16-08-2026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16-08-2026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16-08-2026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16-08-2026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16-08-2026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16-08-2026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16-08-2026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16-08-2026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16-08-2026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16-08-2026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16-08-2026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16-08-2026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16-08-2026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TICKET BOOKING SYSTEM(CONCURRENCY SAFE)</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71695587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err="1"/>
                        <a:t>V.Hemanth</a:t>
                      </a:r>
                      <a:endParaRPr lang="en-US" dirty="0"/>
                    </a:p>
                  </a:txBody>
                  <a:tcPr/>
                </a:tc>
                <a:tc>
                  <a:txBody>
                    <a:bodyPr/>
                    <a:lstStyle/>
                    <a:p>
                      <a:r>
                        <a:rPr lang="en-US" dirty="0"/>
                        <a:t>2520030025</a:t>
                      </a:r>
                    </a:p>
                  </a:txBody>
                  <a:tcPr/>
                </a:tc>
                <a:extLst>
                  <a:ext uri="{0D108BD9-81ED-4DB2-BD59-A6C34878D82A}">
                    <a16:rowId xmlns:a16="http://schemas.microsoft.com/office/drawing/2014/main" val="253518174"/>
                  </a:ext>
                </a:extLst>
              </a:tr>
              <a:tr h="370840">
                <a:tc>
                  <a:txBody>
                    <a:bodyPr/>
                    <a:lstStyle/>
                    <a:p>
                      <a:r>
                        <a:rPr lang="en-US" dirty="0" err="1"/>
                        <a:t>Ch.Vivek</a:t>
                      </a:r>
                      <a:endParaRPr lang="en-US" dirty="0"/>
                    </a:p>
                  </a:txBody>
                  <a:tcPr/>
                </a:tc>
                <a:tc>
                  <a:txBody>
                    <a:bodyPr/>
                    <a:lstStyle/>
                    <a:p>
                      <a:r>
                        <a:rPr lang="en-US" dirty="0"/>
                        <a:t>2520030532</a:t>
                      </a:r>
                    </a:p>
                  </a:txBody>
                  <a:tcPr/>
                </a:tc>
                <a:extLst>
                  <a:ext uri="{0D108BD9-81ED-4DB2-BD59-A6C34878D82A}">
                    <a16:rowId xmlns:a16="http://schemas.microsoft.com/office/drawing/2014/main" val="2413438055"/>
                  </a:ext>
                </a:extLst>
              </a:tr>
              <a:tr h="370840">
                <a:tc>
                  <a:txBody>
                    <a:bodyPr/>
                    <a:lstStyle/>
                    <a:p>
                      <a:r>
                        <a:rPr lang="en-US" dirty="0" err="1"/>
                        <a:t>K.Chaitanya</a:t>
                      </a:r>
                      <a:endParaRPr lang="en-US" dirty="0"/>
                    </a:p>
                  </a:txBody>
                  <a:tcPr/>
                </a:tc>
                <a:tc>
                  <a:txBody>
                    <a:bodyPr/>
                    <a:lstStyle/>
                    <a:p>
                      <a:r>
                        <a:rPr lang="en-US" dirty="0"/>
                        <a:t>2520030266</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NUMBER:2</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46588925"/>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3505200">
                  <a:extLst>
                    <a:ext uri="{9D8B030D-6E8A-4147-A177-3AD203B41FA5}">
                      <a16:colId xmlns:a16="http://schemas.microsoft.com/office/drawing/2014/main" val="446563831"/>
                    </a:ext>
                  </a:extLst>
                </a:gridCol>
                <a:gridCol w="3505200">
                  <a:extLst>
                    <a:ext uri="{9D8B030D-6E8A-4147-A177-3AD203B41FA5}">
                      <a16:colId xmlns:a16="http://schemas.microsoft.com/office/drawing/2014/main" val="3111603232"/>
                    </a:ext>
                  </a:extLst>
                </a:gridCol>
                <a:gridCol w="35052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ROLL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IN" dirty="0"/>
                        <a:t>V. Hemanth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2520030025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Team Member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IN" dirty="0"/>
                        <a:t>K. Chaitanya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2520030266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Ch.Vivek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2520030532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Team Member</a:t>
                      </a:r>
                    </a:p>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9" name="TextBox 8">
            <a:extLst>
              <a:ext uri="{FF2B5EF4-FFF2-40B4-BE49-F238E27FC236}">
                <a16:creationId xmlns:a16="http://schemas.microsoft.com/office/drawing/2014/main" id="{ADC93127-A77B-3916-91E6-935EDE15F1C4}"/>
              </a:ext>
            </a:extLst>
          </p:cNvPr>
          <p:cNvSpPr txBox="1"/>
          <p:nvPr/>
        </p:nvSpPr>
        <p:spPr>
          <a:xfrm>
            <a:off x="337457" y="1443841"/>
            <a:ext cx="11702143" cy="3785652"/>
          </a:xfrm>
          <a:prstGeom prst="rect">
            <a:avLst/>
          </a:prstGeom>
          <a:noFill/>
        </p:spPr>
        <p:txBody>
          <a:bodyPr wrap="square">
            <a:spAutoFit/>
          </a:bodyPr>
          <a:lstStyle/>
          <a:p>
            <a:r>
              <a:rPr lang="en-GB" sz="2400" dirty="0"/>
              <a:t>The </a:t>
            </a:r>
            <a:r>
              <a:rPr lang="en-GB" sz="2400" b="1" dirty="0"/>
              <a:t>Ticket Booking System (Concurrency-Safe)</a:t>
            </a:r>
            <a:r>
              <a:rPr lang="en-GB" sz="2400" dirty="0"/>
              <a:t> is a distributed backend application designed to provide reliable ticket booking while preventing double booking and seat overselling during high-concurrency situations. Multiple users may attempt to reserve the same seat simultaneously, which can cause inconsistent booking records and incorrect seat availability.</a:t>
            </a:r>
          </a:p>
          <a:p>
            <a:r>
              <a:rPr lang="en-GB" sz="2400" dirty="0"/>
              <a:t>The proposed system uses </a:t>
            </a:r>
            <a:r>
              <a:rPr lang="en-GB" sz="2400" b="1" dirty="0"/>
              <a:t>Java and Spring Boot</a:t>
            </a:r>
            <a:r>
              <a:rPr lang="en-GB" sz="2400" dirty="0"/>
              <a:t> for backend development, </a:t>
            </a:r>
            <a:r>
              <a:rPr lang="en-GB" sz="2400" b="1" dirty="0"/>
              <a:t>PostgreSQL</a:t>
            </a:r>
            <a:r>
              <a:rPr lang="en-GB" sz="2400" dirty="0"/>
              <a:t> for relational data management, </a:t>
            </a:r>
            <a:r>
              <a:rPr lang="en-GB" sz="2400" b="1" dirty="0"/>
              <a:t>Redis</a:t>
            </a:r>
            <a:r>
              <a:rPr lang="en-GB" sz="2400" dirty="0"/>
              <a:t> for distributed locking, </a:t>
            </a:r>
            <a:r>
              <a:rPr lang="en-GB" sz="2400" b="1" dirty="0"/>
              <a:t>Kafka</a:t>
            </a:r>
            <a:r>
              <a:rPr lang="en-GB" sz="2400" dirty="0"/>
              <a:t> for asynchronous message processing, and </a:t>
            </a:r>
            <a:r>
              <a:rPr lang="en-GB" sz="2400" b="1" dirty="0"/>
              <a:t>React</a:t>
            </a:r>
            <a:r>
              <a:rPr lang="en-GB" sz="2400" dirty="0"/>
              <a:t> for the frontend. The system supports seat inventory, booking and payment, cancellation and refund processing, and reporting. Distributed locking and asynchronous processing help maintain data consistency and reliable booking under heavy traffic.</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TextBox 6">
            <a:extLst>
              <a:ext uri="{FF2B5EF4-FFF2-40B4-BE49-F238E27FC236}">
                <a16:creationId xmlns:a16="http://schemas.microsoft.com/office/drawing/2014/main" id="{736CEA64-523C-559E-2DE3-6036BA4B526C}"/>
              </a:ext>
            </a:extLst>
          </p:cNvPr>
          <p:cNvSpPr txBox="1"/>
          <p:nvPr/>
        </p:nvSpPr>
        <p:spPr>
          <a:xfrm>
            <a:off x="97971" y="1720840"/>
            <a:ext cx="11157858" cy="4524315"/>
          </a:xfrm>
          <a:prstGeom prst="rect">
            <a:avLst/>
          </a:prstGeom>
          <a:noFill/>
        </p:spPr>
        <p:txBody>
          <a:bodyPr wrap="square">
            <a:spAutoFit/>
          </a:bodyPr>
          <a:lstStyle/>
          <a:p>
            <a:pPr>
              <a:buFont typeface="Arial" panose="020B0604020202020204" pitchFamily="34" charset="0"/>
              <a:buChar char="•"/>
            </a:pPr>
            <a:r>
              <a:rPr lang="en-GB" sz="2400" dirty="0"/>
              <a:t>Online ticket booking systems must handle multiple users simultaneously. </a:t>
            </a:r>
          </a:p>
          <a:p>
            <a:pPr>
              <a:buFont typeface="Arial" panose="020B0604020202020204" pitchFamily="34" charset="0"/>
              <a:buChar char="•"/>
            </a:pPr>
            <a:endParaRPr lang="en-GB" sz="2400" dirty="0"/>
          </a:p>
          <a:p>
            <a:pPr>
              <a:buFont typeface="Arial" panose="020B0604020202020204" pitchFamily="34" charset="0"/>
              <a:buChar char="•"/>
            </a:pPr>
            <a:r>
              <a:rPr lang="en-GB" sz="2400" dirty="0"/>
              <a:t>A major challenge is preventing two users from booking the same seat. </a:t>
            </a:r>
          </a:p>
          <a:p>
            <a:pPr>
              <a:buFont typeface="Arial" panose="020B0604020202020204" pitchFamily="34" charset="0"/>
              <a:buChar char="•"/>
            </a:pPr>
            <a:endParaRPr lang="en-GB" sz="2400" dirty="0"/>
          </a:p>
          <a:p>
            <a:pPr>
              <a:buFont typeface="Arial" panose="020B0604020202020204" pitchFamily="34" charset="0"/>
              <a:buChar char="•"/>
            </a:pPr>
            <a:r>
              <a:rPr lang="en-GB" sz="2400" dirty="0"/>
              <a:t>High traffic can create a large number of simultaneous booking requests. </a:t>
            </a:r>
          </a:p>
          <a:p>
            <a:pPr>
              <a:buFont typeface="Arial" panose="020B0604020202020204" pitchFamily="34" charset="0"/>
              <a:buChar char="•"/>
            </a:pPr>
            <a:endParaRPr lang="en-GB" sz="2400" dirty="0"/>
          </a:p>
          <a:p>
            <a:pPr>
              <a:buFont typeface="Arial" panose="020B0604020202020204" pitchFamily="34" charset="0"/>
              <a:buChar char="•"/>
            </a:pPr>
            <a:r>
              <a:rPr lang="en-GB" sz="2400" dirty="0"/>
              <a:t>Traditional systems may face double booking and inconsistent seat availability. </a:t>
            </a:r>
          </a:p>
          <a:p>
            <a:pPr>
              <a:buFont typeface="Arial" panose="020B0604020202020204" pitchFamily="34" charset="0"/>
              <a:buChar char="•"/>
            </a:pPr>
            <a:endParaRPr lang="en-GB" sz="2400" dirty="0"/>
          </a:p>
          <a:p>
            <a:pPr>
              <a:buFont typeface="Arial" panose="020B0604020202020204" pitchFamily="34" charset="0"/>
              <a:buChar char="•"/>
            </a:pPr>
            <a:r>
              <a:rPr lang="en-GB" sz="2400" dirty="0"/>
              <a:t>Our project proposes a </a:t>
            </a:r>
            <a:r>
              <a:rPr lang="en-GB" sz="2400" b="1" dirty="0"/>
              <a:t>concurrency-safe distributed ticket booking system</a:t>
            </a:r>
            <a:r>
              <a:rPr lang="en-GB" sz="2400" dirty="0"/>
              <a:t>. </a:t>
            </a:r>
          </a:p>
          <a:p>
            <a:pPr>
              <a:buFont typeface="Arial" panose="020B0604020202020204" pitchFamily="34" charset="0"/>
              <a:buChar char="•"/>
            </a:pPr>
            <a:endParaRPr lang="en-GB" sz="2400" dirty="0"/>
          </a:p>
          <a:p>
            <a:pPr>
              <a:buFont typeface="Arial" panose="020B0604020202020204" pitchFamily="34" charset="0"/>
              <a:buChar char="•"/>
            </a:pPr>
            <a:r>
              <a:rPr lang="en-GB" sz="2400" dirty="0"/>
              <a:t>The system combines database transactions, distributed locking and asynchronous messaging. </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7" name="Rectangle 2">
            <a:extLst>
              <a:ext uri="{FF2B5EF4-FFF2-40B4-BE49-F238E27FC236}">
                <a16:creationId xmlns:a16="http://schemas.microsoft.com/office/drawing/2014/main" id="{B7DE763D-482F-33D1-D356-677083200FC0}"/>
              </a:ext>
            </a:extLst>
          </p:cNvPr>
          <p:cNvSpPr>
            <a:spLocks noChangeArrowheads="1"/>
          </p:cNvSpPr>
          <p:nvPr/>
        </p:nvSpPr>
        <p:spPr bwMode="auto">
          <a:xfrm rot="10800000" flipV="1">
            <a:off x="239485" y="1301915"/>
            <a:ext cx="1111431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Basic ticket booking systems may not handle concurrent requests 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Multiple users may see the same seat as available.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can result in </a:t>
            </a:r>
            <a:r>
              <a:rPr kumimoji="0" lang="en-US" altLang="en-US" sz="2400" b="1" i="0" u="none" strike="noStrike" cap="none" normalizeH="0" baseline="0" dirty="0">
                <a:ln>
                  <a:noFill/>
                </a:ln>
                <a:solidFill>
                  <a:schemeClr val="tx1"/>
                </a:solidFill>
                <a:effectLst/>
                <a:latin typeface="Arial" panose="020B0604020202020204" pitchFamily="34" charset="0"/>
              </a:rPr>
              <a:t>double booking</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 traffic can overload backend services.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Maintaining consistent booking and payment information becomes difficult.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Limited concurrency control can lead to incorrect seat availability. </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3" name="Rectangle 1">
            <a:extLst>
              <a:ext uri="{FF2B5EF4-FFF2-40B4-BE49-F238E27FC236}">
                <a16:creationId xmlns:a16="http://schemas.microsoft.com/office/drawing/2014/main" id="{2A8A3503-59A3-88DD-3E57-BADD084D1408}"/>
              </a:ext>
            </a:extLst>
          </p:cNvPr>
          <p:cNvSpPr>
            <a:spLocks noChangeArrowheads="1"/>
          </p:cNvSpPr>
          <p:nvPr/>
        </p:nvSpPr>
        <p:spPr bwMode="auto">
          <a:xfrm>
            <a:off x="326571" y="1615743"/>
            <a:ext cx="11865429"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To design a reliable ticket booking system that prevents </a:t>
            </a:r>
            <a:r>
              <a:rPr kumimoji="0" lang="en-US" altLang="en-US" sz="2400" b="1" i="0" u="none" strike="noStrike" cap="none" normalizeH="0" baseline="0" dirty="0">
                <a:ln>
                  <a:noFill/>
                </a:ln>
                <a:solidFill>
                  <a:schemeClr val="tx1"/>
                </a:solidFill>
                <a:effectLst/>
                <a:latin typeface="Arial" panose="020B0604020202020204" pitchFamily="34" charset="0"/>
              </a:rPr>
              <a:t>double booking and seat overselling</a:t>
            </a:r>
            <a:r>
              <a:rPr kumimoji="0" lang="en-US" altLang="en-US" sz="2400" b="0" i="0" u="none" strike="noStrike" cap="none" normalizeH="0" baseline="0" dirty="0">
                <a:ln>
                  <a:noFill/>
                </a:ln>
                <a:solidFill>
                  <a:schemeClr val="tx1"/>
                </a:solidFill>
                <a:effectLst/>
                <a:latin typeface="Arial" panose="020B0604020202020204" pitchFamily="34" charset="0"/>
              </a:rPr>
              <a:t> when multiple users attempt to reserve the same seat simultaneously, while maintaining database consistency and efficiently handling a large number of booking requests.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7" name="TextBox 6">
            <a:extLst>
              <a:ext uri="{FF2B5EF4-FFF2-40B4-BE49-F238E27FC236}">
                <a16:creationId xmlns:a16="http://schemas.microsoft.com/office/drawing/2014/main" id="{289AA35B-4FB5-1281-248D-0B61CBB0992A}"/>
              </a:ext>
            </a:extLst>
          </p:cNvPr>
          <p:cNvSpPr txBox="1"/>
          <p:nvPr/>
        </p:nvSpPr>
        <p:spPr>
          <a:xfrm>
            <a:off x="348342" y="1576696"/>
            <a:ext cx="10722429" cy="4893647"/>
          </a:xfrm>
          <a:prstGeom prst="rect">
            <a:avLst/>
          </a:prstGeom>
          <a:noFill/>
        </p:spPr>
        <p:txBody>
          <a:bodyPr wrap="square">
            <a:spAutoFit/>
          </a:bodyPr>
          <a:lstStyle/>
          <a:p>
            <a:pPr>
              <a:buFont typeface="Arial" panose="020B0604020202020204" pitchFamily="34" charset="0"/>
              <a:buChar char="•"/>
            </a:pPr>
            <a:r>
              <a:rPr lang="en-IN" sz="2400" dirty="0"/>
              <a:t>Develop RESTful backend services using </a:t>
            </a:r>
            <a:r>
              <a:rPr lang="en-IN" sz="2400" b="1" dirty="0"/>
              <a:t>Spring Boot</a:t>
            </a:r>
            <a:r>
              <a:rPr lang="en-IN" sz="2400" dirty="0"/>
              <a:t>. </a:t>
            </a:r>
          </a:p>
          <a:p>
            <a:pPr>
              <a:buFont typeface="Arial" panose="020B0604020202020204" pitchFamily="34" charset="0"/>
              <a:buChar char="•"/>
            </a:pPr>
            <a:endParaRPr lang="en-IN" sz="2400" dirty="0"/>
          </a:p>
          <a:p>
            <a:pPr>
              <a:buFont typeface="Arial" panose="020B0604020202020204" pitchFamily="34" charset="0"/>
              <a:buChar char="•"/>
            </a:pPr>
            <a:r>
              <a:rPr lang="en-IN" sz="2400" dirty="0"/>
              <a:t>Use </a:t>
            </a:r>
            <a:r>
              <a:rPr lang="en-IN" sz="2400" b="1" dirty="0"/>
              <a:t>PostgreSQL</a:t>
            </a:r>
            <a:r>
              <a:rPr lang="en-IN" sz="2400" dirty="0"/>
              <a:t> for relational database management. </a:t>
            </a:r>
          </a:p>
          <a:p>
            <a:pPr>
              <a:buFont typeface="Arial" panose="020B0604020202020204" pitchFamily="34" charset="0"/>
              <a:buChar char="•"/>
            </a:pPr>
            <a:endParaRPr lang="en-IN" sz="2400" dirty="0"/>
          </a:p>
          <a:p>
            <a:pPr>
              <a:buFont typeface="Arial" panose="020B0604020202020204" pitchFamily="34" charset="0"/>
              <a:buChar char="•"/>
            </a:pPr>
            <a:r>
              <a:rPr lang="en-IN" sz="2400" dirty="0"/>
              <a:t>Use </a:t>
            </a:r>
            <a:r>
              <a:rPr lang="en-IN" sz="2400" b="1" dirty="0"/>
              <a:t>Redis distributed locking</a:t>
            </a:r>
            <a:r>
              <a:rPr lang="en-IN" sz="2400" dirty="0"/>
              <a:t> to control concurrent seat booking. </a:t>
            </a:r>
          </a:p>
          <a:p>
            <a:pPr>
              <a:buFont typeface="Arial" panose="020B0604020202020204" pitchFamily="34" charset="0"/>
              <a:buChar char="•"/>
            </a:pPr>
            <a:endParaRPr lang="en-IN" sz="2400" dirty="0"/>
          </a:p>
          <a:p>
            <a:pPr>
              <a:buFont typeface="Arial" panose="020B0604020202020204" pitchFamily="34" charset="0"/>
              <a:buChar char="•"/>
            </a:pPr>
            <a:r>
              <a:rPr lang="en-IN" sz="2400" dirty="0"/>
              <a:t>Use </a:t>
            </a:r>
            <a:r>
              <a:rPr lang="en-IN" sz="2400" b="1" dirty="0"/>
              <a:t>Kafka</a:t>
            </a:r>
            <a:r>
              <a:rPr lang="en-IN" sz="2400" dirty="0"/>
              <a:t> for asynchronous message/event processing. </a:t>
            </a:r>
          </a:p>
          <a:p>
            <a:pPr>
              <a:buFont typeface="Arial" panose="020B0604020202020204" pitchFamily="34" charset="0"/>
              <a:buChar char="•"/>
            </a:pPr>
            <a:endParaRPr lang="en-IN" sz="2400" dirty="0"/>
          </a:p>
          <a:p>
            <a:pPr>
              <a:buFont typeface="Arial" panose="020B0604020202020204" pitchFamily="34" charset="0"/>
              <a:buChar char="•"/>
            </a:pPr>
            <a:r>
              <a:rPr lang="en-IN" sz="2400" dirty="0"/>
              <a:t>Use </a:t>
            </a:r>
            <a:r>
              <a:rPr lang="en-IN" sz="2400" b="1" dirty="0"/>
              <a:t>React.js</a:t>
            </a:r>
            <a:r>
              <a:rPr lang="en-IN" sz="2400" dirty="0"/>
              <a:t> for the user interface. </a:t>
            </a:r>
          </a:p>
          <a:p>
            <a:pPr>
              <a:buFont typeface="Arial" panose="020B0604020202020204" pitchFamily="34" charset="0"/>
              <a:buChar char="•"/>
            </a:pPr>
            <a:endParaRPr lang="en-IN" sz="2400" dirty="0"/>
          </a:p>
          <a:p>
            <a:pPr>
              <a:buFont typeface="Arial" panose="020B0604020202020204" pitchFamily="34" charset="0"/>
              <a:buChar char="•"/>
            </a:pPr>
            <a:r>
              <a:rPr lang="en-IN" sz="2400" dirty="0"/>
              <a:t>Use database transactions to maintain data consistency. </a:t>
            </a:r>
          </a:p>
          <a:p>
            <a:pPr>
              <a:buFont typeface="Arial" panose="020B0604020202020204" pitchFamily="34" charset="0"/>
              <a:buChar char="•"/>
            </a:pPr>
            <a:endParaRPr lang="en-IN" sz="2400" dirty="0"/>
          </a:p>
          <a:p>
            <a:pPr>
              <a:buFont typeface="Arial" panose="020B0604020202020204" pitchFamily="34" charset="0"/>
              <a:buChar char="•"/>
            </a:pPr>
            <a:r>
              <a:rPr lang="en-IN" sz="2400" dirty="0"/>
              <a:t>Provide reliable booking even during high user traffic. </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7" name="TextBox 6">
            <a:extLst>
              <a:ext uri="{FF2B5EF4-FFF2-40B4-BE49-F238E27FC236}">
                <a16:creationId xmlns:a16="http://schemas.microsoft.com/office/drawing/2014/main" id="{86735776-C073-5802-7FFC-94DF959721E7}"/>
              </a:ext>
            </a:extLst>
          </p:cNvPr>
          <p:cNvSpPr txBox="1"/>
          <p:nvPr/>
        </p:nvSpPr>
        <p:spPr>
          <a:xfrm>
            <a:off x="370114" y="1576696"/>
            <a:ext cx="10515600" cy="4893647"/>
          </a:xfrm>
          <a:prstGeom prst="rect">
            <a:avLst/>
          </a:prstGeom>
          <a:noFill/>
        </p:spPr>
        <p:txBody>
          <a:bodyPr wrap="square">
            <a:spAutoFit/>
          </a:bodyPr>
          <a:lstStyle/>
          <a:p>
            <a:pPr>
              <a:buFont typeface="+mj-lt"/>
              <a:buAutoNum type="arabicPeriod"/>
            </a:pPr>
            <a:r>
              <a:rPr lang="en-GB" sz="2400" dirty="0"/>
              <a:t>Prevent double booking and seat overselling. </a:t>
            </a:r>
          </a:p>
          <a:p>
            <a:pPr>
              <a:buFont typeface="+mj-lt"/>
              <a:buAutoNum type="arabicPeriod"/>
            </a:pPr>
            <a:endParaRPr lang="en-GB" sz="2400" dirty="0"/>
          </a:p>
          <a:p>
            <a:pPr>
              <a:buFont typeface="+mj-lt"/>
              <a:buAutoNum type="arabicPeriod"/>
            </a:pPr>
            <a:r>
              <a:rPr lang="en-GB" sz="2400" dirty="0"/>
              <a:t>Maintain consistent and reliable booking data. </a:t>
            </a:r>
          </a:p>
          <a:p>
            <a:pPr>
              <a:buFont typeface="+mj-lt"/>
              <a:buAutoNum type="arabicPeriod"/>
            </a:pPr>
            <a:endParaRPr lang="en-GB" sz="2400" dirty="0"/>
          </a:p>
          <a:p>
            <a:pPr>
              <a:buFont typeface="+mj-lt"/>
              <a:buAutoNum type="arabicPeriod"/>
            </a:pPr>
            <a:r>
              <a:rPr lang="en-GB" sz="2400" dirty="0"/>
              <a:t>Handle concurrent booking requests safely. </a:t>
            </a:r>
          </a:p>
          <a:p>
            <a:pPr>
              <a:buFont typeface="+mj-lt"/>
              <a:buAutoNum type="arabicPeriod"/>
            </a:pPr>
            <a:endParaRPr lang="en-GB" sz="2400" dirty="0"/>
          </a:p>
          <a:p>
            <a:pPr>
              <a:buFont typeface="+mj-lt"/>
              <a:buAutoNum type="arabicPeriod"/>
            </a:pPr>
            <a:r>
              <a:rPr lang="en-GB" sz="2400" dirty="0"/>
              <a:t>Develop REST APIs for ticket booking operations. </a:t>
            </a:r>
          </a:p>
          <a:p>
            <a:pPr>
              <a:buFont typeface="+mj-lt"/>
              <a:buAutoNum type="arabicPeriod"/>
            </a:pPr>
            <a:endParaRPr lang="en-GB" sz="2400" dirty="0"/>
          </a:p>
          <a:p>
            <a:pPr>
              <a:buFont typeface="+mj-lt"/>
              <a:buAutoNum type="arabicPeriod"/>
            </a:pPr>
            <a:r>
              <a:rPr lang="en-GB" sz="2400" dirty="0"/>
              <a:t>Manage seat inventory, bookings, payments and cancellations. </a:t>
            </a:r>
          </a:p>
          <a:p>
            <a:pPr>
              <a:buFont typeface="+mj-lt"/>
              <a:buAutoNum type="arabicPeriod"/>
            </a:pPr>
            <a:endParaRPr lang="en-GB" sz="2400" dirty="0"/>
          </a:p>
          <a:p>
            <a:pPr>
              <a:buFont typeface="+mj-lt"/>
              <a:buAutoNum type="arabicPeriod"/>
            </a:pPr>
            <a:r>
              <a:rPr lang="en-GB" sz="2400" dirty="0"/>
              <a:t>Apply database and distributed backend engineering concepts. </a:t>
            </a:r>
          </a:p>
          <a:p>
            <a:pPr>
              <a:buFont typeface="+mj-lt"/>
              <a:buAutoNum type="arabicPeriod"/>
            </a:pPr>
            <a:endParaRPr lang="en-GB" sz="2400" dirty="0"/>
          </a:p>
          <a:p>
            <a:pPr>
              <a:buFont typeface="+mj-lt"/>
              <a:buAutoNum type="arabicPeriod"/>
            </a:pPr>
            <a:r>
              <a:rPr lang="en-GB" sz="2400" dirty="0"/>
              <a:t>Build a scalable and reliable ticket booking platform. </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7" name="TextBox 6">
            <a:extLst>
              <a:ext uri="{FF2B5EF4-FFF2-40B4-BE49-F238E27FC236}">
                <a16:creationId xmlns:a16="http://schemas.microsoft.com/office/drawing/2014/main" id="{DC6AA1EE-A5CE-BDB9-2AF4-99CC2EC595B6}"/>
              </a:ext>
            </a:extLst>
          </p:cNvPr>
          <p:cNvSpPr txBox="1"/>
          <p:nvPr/>
        </p:nvSpPr>
        <p:spPr>
          <a:xfrm>
            <a:off x="152399" y="1443841"/>
            <a:ext cx="11908971" cy="4524315"/>
          </a:xfrm>
          <a:prstGeom prst="rect">
            <a:avLst/>
          </a:prstGeom>
          <a:noFill/>
        </p:spPr>
        <p:txBody>
          <a:bodyPr wrap="square">
            <a:spAutoFit/>
          </a:bodyPr>
          <a:lstStyle/>
          <a:p>
            <a:r>
              <a:rPr lang="en-GB" sz="2400" b="1" dirty="0"/>
              <a:t>1. Inventory &amp; Seat Map Management</a:t>
            </a:r>
          </a:p>
          <a:p>
            <a:r>
              <a:rPr lang="en-GB" sz="2400" dirty="0"/>
              <a:t>Manage events, shows, seats and availability.</a:t>
            </a:r>
          </a:p>
          <a:p>
            <a:r>
              <a:rPr lang="en-GB" sz="2400" b="1" dirty="0"/>
              <a:t>2. Distributed Locking</a:t>
            </a:r>
          </a:p>
          <a:p>
            <a:r>
              <a:rPr lang="en-GB" sz="2400" dirty="0"/>
              <a:t>Prevent multiple users from booking the same seat simultaneously.</a:t>
            </a:r>
          </a:p>
          <a:p>
            <a:r>
              <a:rPr lang="en-GB" sz="2400" b="1" dirty="0"/>
              <a:t>3. Booking &amp; Payment</a:t>
            </a:r>
          </a:p>
          <a:p>
            <a:r>
              <a:rPr lang="en-GB" sz="2400" dirty="0"/>
              <a:t>Handle seat reservation, booking confirmation and payment.</a:t>
            </a:r>
          </a:p>
          <a:p>
            <a:r>
              <a:rPr lang="en-GB" sz="2400" b="1" dirty="0"/>
              <a:t>4. Queue-Based Load Handling</a:t>
            </a:r>
          </a:p>
          <a:p>
            <a:r>
              <a:rPr lang="en-GB" sz="2400" dirty="0"/>
              <a:t>Handle large numbers of booking requests using asynchronous processing.</a:t>
            </a:r>
          </a:p>
          <a:p>
            <a:r>
              <a:rPr lang="en-GB" sz="2400" b="1" dirty="0"/>
              <a:t>5. Cancellation &amp; Refund</a:t>
            </a:r>
          </a:p>
          <a:p>
            <a:r>
              <a:rPr lang="en-GB" sz="2400" dirty="0"/>
              <a:t>Manage booking cancellations and refunds.</a:t>
            </a:r>
          </a:p>
          <a:p>
            <a:r>
              <a:rPr lang="en-GB" sz="2400" b="1" dirty="0"/>
              <a:t>6. Reports &amp; Analytics</a:t>
            </a:r>
          </a:p>
          <a:p>
            <a:r>
              <a:rPr lang="en-GB" sz="2400" dirty="0"/>
              <a:t>Generate booking, payment and cancellation reports.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8" name="Rectangle 3">
            <a:extLst>
              <a:ext uri="{FF2B5EF4-FFF2-40B4-BE49-F238E27FC236}">
                <a16:creationId xmlns:a16="http://schemas.microsoft.com/office/drawing/2014/main" id="{B6F06E88-1311-7C94-F1BF-8E0D5B4CBF83}"/>
              </a:ext>
            </a:extLst>
          </p:cNvPr>
          <p:cNvSpPr>
            <a:spLocks noGrp="1" noChangeArrowheads="1"/>
          </p:cNvSpPr>
          <p:nvPr>
            <p:ph idx="1"/>
          </p:nvPr>
        </p:nvSpPr>
        <p:spPr bwMode="auto">
          <a:xfrm>
            <a:off x="355600" y="1739137"/>
            <a:ext cx="11836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Java</a:t>
            </a:r>
            <a:r>
              <a:rPr kumimoji="0" lang="en-US" altLang="en-US" sz="2400" b="0" i="0" u="none" strike="noStrike" cap="none" normalizeH="0" baseline="0" dirty="0">
                <a:ln>
                  <a:noFill/>
                </a:ln>
                <a:solidFill>
                  <a:schemeClr val="tx1"/>
                </a:solidFill>
                <a:effectLst/>
                <a:latin typeface="Calibri (Body)"/>
              </a:rPr>
              <a:t> – Backend programming language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Spring Boot</a:t>
            </a:r>
            <a:r>
              <a:rPr kumimoji="0" lang="en-US" altLang="en-US" sz="2400" b="0" i="0" u="none" strike="noStrike" cap="none" normalizeH="0" baseline="0" dirty="0">
                <a:ln>
                  <a:noFill/>
                </a:ln>
                <a:solidFill>
                  <a:schemeClr val="tx1"/>
                </a:solidFill>
                <a:effectLst/>
                <a:latin typeface="Calibri (Body)"/>
              </a:rPr>
              <a:t> – Backend framework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Spring Data JPA / Hibernate</a:t>
            </a:r>
            <a:r>
              <a:rPr kumimoji="0" lang="en-US" altLang="en-US" sz="2400" b="0" i="0" u="none" strike="noStrike" cap="none" normalizeH="0" baseline="0" dirty="0">
                <a:ln>
                  <a:noFill/>
                </a:ln>
                <a:solidFill>
                  <a:schemeClr val="tx1"/>
                </a:solidFill>
                <a:effectLst/>
                <a:latin typeface="Calibri (Body)"/>
              </a:rPr>
              <a:t> – Database integration and 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PostgreSQL</a:t>
            </a:r>
            <a:r>
              <a:rPr kumimoji="0" lang="en-US" altLang="en-US" sz="2400" b="0" i="0" u="none" strike="noStrike" cap="none" normalizeH="0" baseline="0" dirty="0">
                <a:ln>
                  <a:noFill/>
                </a:ln>
                <a:solidFill>
                  <a:schemeClr val="tx1"/>
                </a:solidFill>
                <a:effectLst/>
                <a:latin typeface="Calibri (Body)"/>
              </a:rPr>
              <a:t> – Relational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Redis</a:t>
            </a:r>
            <a:r>
              <a:rPr kumimoji="0" lang="en-US" altLang="en-US" sz="2400" b="0" i="0" u="none" strike="noStrike" cap="none" normalizeH="0" baseline="0" dirty="0">
                <a:ln>
                  <a:noFill/>
                </a:ln>
                <a:solidFill>
                  <a:schemeClr val="tx1"/>
                </a:solidFill>
                <a:effectLst/>
                <a:latin typeface="Calibri (Body)"/>
              </a:rPr>
              <a:t> – Distributed locking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Apache Kafka</a:t>
            </a:r>
            <a:r>
              <a:rPr kumimoji="0" lang="en-US" altLang="en-US" sz="2400" b="0" i="0" u="none" strike="noStrike" cap="none" normalizeH="0" baseline="0" dirty="0">
                <a:ln>
                  <a:noFill/>
                </a:ln>
                <a:solidFill>
                  <a:schemeClr val="tx1"/>
                </a:solidFill>
                <a:effectLst/>
                <a:latin typeface="Calibri (Body)"/>
              </a:rPr>
              <a:t> – Asynchronous messaging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React.js</a:t>
            </a:r>
            <a:r>
              <a:rPr kumimoji="0" lang="en-US" altLang="en-US" sz="2400" b="0" i="0" u="none" strike="noStrike" cap="none" normalizeH="0" baseline="0" dirty="0">
                <a:ln>
                  <a:noFill/>
                </a:ln>
                <a:solidFill>
                  <a:schemeClr val="tx1"/>
                </a:solidFill>
                <a:effectLst/>
                <a:latin typeface="Calibri (Body)"/>
              </a:rPr>
              <a:t> – Frontend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Maven</a:t>
            </a:r>
            <a:r>
              <a:rPr kumimoji="0" lang="en-US" altLang="en-US" sz="2400" b="0" i="0" u="none" strike="noStrike" cap="none" normalizeH="0" baseline="0" dirty="0">
                <a:ln>
                  <a:noFill/>
                </a:ln>
                <a:solidFill>
                  <a:schemeClr val="tx1"/>
                </a:solidFill>
                <a:effectLst/>
                <a:latin typeface="Calibri (Body)"/>
              </a:rPr>
              <a:t> – Dependency management and build automation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Postman</a:t>
            </a:r>
            <a:r>
              <a:rPr kumimoji="0" lang="en-US" altLang="en-US" sz="2400" b="0" i="0" u="none" strike="noStrike" cap="none" normalizeH="0" baseline="0" dirty="0">
                <a:ln>
                  <a:noFill/>
                </a:ln>
                <a:solidFill>
                  <a:schemeClr val="tx1"/>
                </a:solidFill>
                <a:effectLst/>
                <a:latin typeface="Calibri (Body)"/>
              </a:rPr>
              <a:t> – REST API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Git &amp; GitHub</a:t>
            </a:r>
            <a:r>
              <a:rPr kumimoji="0" lang="en-US" altLang="en-US" sz="2400" b="0" i="0" u="none" strike="noStrike" cap="none" normalizeH="0" baseline="0" dirty="0">
                <a:ln>
                  <a:noFill/>
                </a:ln>
                <a:solidFill>
                  <a:schemeClr val="tx1"/>
                </a:solidFill>
                <a:effectLst/>
                <a:latin typeface="Calibri (Body)"/>
              </a:rPr>
              <a:t> – Version control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VS Code / Spring Tools</a:t>
            </a:r>
            <a:r>
              <a:rPr kumimoji="0" lang="en-US" altLang="en-US" sz="2400" b="0" i="0" u="none" strike="noStrike" cap="none" normalizeH="0" baseline="0" dirty="0">
                <a:ln>
                  <a:noFill/>
                </a:ln>
                <a:solidFill>
                  <a:schemeClr val="tx1"/>
                </a:solidFill>
                <a:effectLst/>
                <a:latin typeface="Calibri (Body)"/>
              </a:rPr>
              <a:t> – Development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Body)"/>
              </a:rPr>
              <a:t>Docker Desktop</a:t>
            </a:r>
            <a:r>
              <a:rPr kumimoji="0" lang="en-US" altLang="en-US" sz="2400" b="0" i="0" u="none" strike="noStrike" cap="none" normalizeH="0" baseline="0" dirty="0">
                <a:ln>
                  <a:noFill/>
                </a:ln>
                <a:solidFill>
                  <a:schemeClr val="tx1"/>
                </a:solidFill>
                <a:effectLst/>
                <a:latin typeface="Calibri (Body)"/>
              </a:rPr>
              <a:t> – </a:t>
            </a:r>
            <a:r>
              <a:rPr kumimoji="0" lang="en-US" altLang="en-US" sz="2400" b="0" i="0" u="none" strike="noStrike" cap="none" normalizeH="0" baseline="0" dirty="0" err="1">
                <a:ln>
                  <a:noFill/>
                </a:ln>
                <a:solidFill>
                  <a:schemeClr val="tx1"/>
                </a:solidFill>
                <a:effectLst/>
                <a:latin typeface="Calibri (Body)"/>
              </a:rPr>
              <a:t>Containerisation</a:t>
            </a:r>
            <a:r>
              <a:rPr kumimoji="0" lang="en-US" altLang="en-US" sz="2400" b="0" i="0" u="none" strike="noStrike" cap="none" normalizeH="0" baseline="0" dirty="0">
                <a:ln>
                  <a:noFill/>
                </a:ln>
                <a:solidFill>
                  <a:schemeClr val="tx1"/>
                </a:solidFill>
                <a:effectLst/>
                <a:latin typeface="Calibri (Body)"/>
              </a:rPr>
              <a:t> </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BF66B3A1-C802-69E5-0990-D4DD7B470C74}"/>
              </a:ext>
            </a:extLst>
          </p:cNvPr>
          <p:cNvSpPr txBox="1"/>
          <p:nvPr/>
        </p:nvSpPr>
        <p:spPr>
          <a:xfrm>
            <a:off x="419100" y="1213009"/>
            <a:ext cx="11772900" cy="1200329"/>
          </a:xfrm>
          <a:prstGeom prst="rect">
            <a:avLst/>
          </a:prstGeom>
          <a:noFill/>
        </p:spPr>
        <p:txBody>
          <a:bodyPr wrap="square">
            <a:spAutoFit/>
          </a:bodyPr>
          <a:lstStyle/>
          <a:p>
            <a:r>
              <a:rPr lang="en-GB" b="1" dirty="0"/>
              <a:t>Conclusion</a:t>
            </a:r>
          </a:p>
          <a:p>
            <a:r>
              <a:rPr lang="en-GB" dirty="0"/>
              <a:t>The </a:t>
            </a:r>
            <a:r>
              <a:rPr lang="en-GB" b="1" dirty="0"/>
              <a:t>Ticket Booking System (Concurrency-Safe)</a:t>
            </a:r>
            <a:r>
              <a:rPr lang="en-GB" dirty="0"/>
              <a:t> provides a reliable solution for handling concurrent ticket bookings. By combining </a:t>
            </a:r>
            <a:r>
              <a:rPr lang="en-GB" b="1" dirty="0"/>
              <a:t>PostgreSQL, Spring Boot, Redis and Kafka</a:t>
            </a:r>
            <a:r>
              <a:rPr lang="en-GB" dirty="0"/>
              <a:t>, the system aims to prevent double booking, maintain database consistency and handle high volumes of booking requests efficiently.</a:t>
            </a:r>
          </a:p>
        </p:txBody>
      </p:sp>
      <p:sp>
        <p:nvSpPr>
          <p:cNvPr id="6" name="TextBox 5">
            <a:extLst>
              <a:ext uri="{FF2B5EF4-FFF2-40B4-BE49-F238E27FC236}">
                <a16:creationId xmlns:a16="http://schemas.microsoft.com/office/drawing/2014/main" id="{3B525122-57E1-192D-5B49-AC8B4CFEC0EB}"/>
              </a:ext>
            </a:extLst>
          </p:cNvPr>
          <p:cNvSpPr txBox="1"/>
          <p:nvPr/>
        </p:nvSpPr>
        <p:spPr>
          <a:xfrm>
            <a:off x="419100" y="2707839"/>
            <a:ext cx="11099800" cy="2585323"/>
          </a:xfrm>
          <a:prstGeom prst="rect">
            <a:avLst/>
          </a:prstGeom>
          <a:noFill/>
        </p:spPr>
        <p:txBody>
          <a:bodyPr wrap="square">
            <a:spAutoFit/>
          </a:bodyPr>
          <a:lstStyle/>
          <a:p>
            <a:r>
              <a:rPr lang="en-GB" b="1" dirty="0"/>
              <a:t>Future Scope</a:t>
            </a:r>
          </a:p>
          <a:p>
            <a:pPr>
              <a:buFont typeface="Arial" panose="020B0604020202020204" pitchFamily="34" charset="0"/>
              <a:buChar char="•"/>
            </a:pPr>
            <a:r>
              <a:rPr lang="en-GB" dirty="0"/>
              <a:t>Microservices architecture </a:t>
            </a:r>
          </a:p>
          <a:p>
            <a:pPr>
              <a:buFont typeface="Arial" panose="020B0604020202020204" pitchFamily="34" charset="0"/>
              <a:buChar char="•"/>
            </a:pPr>
            <a:r>
              <a:rPr lang="en-GB" dirty="0"/>
              <a:t>Docker-based deployment </a:t>
            </a:r>
          </a:p>
          <a:p>
            <a:pPr>
              <a:buFont typeface="Arial" panose="020B0604020202020204" pitchFamily="34" charset="0"/>
              <a:buChar char="•"/>
            </a:pPr>
            <a:r>
              <a:rPr lang="en-GB" dirty="0"/>
              <a:t>CI/CD pipeline </a:t>
            </a:r>
          </a:p>
          <a:p>
            <a:pPr>
              <a:buFont typeface="Arial" panose="020B0604020202020204" pitchFamily="34" charset="0"/>
              <a:buChar char="•"/>
            </a:pPr>
            <a:r>
              <a:rPr lang="en-GB" dirty="0"/>
              <a:t>Monitoring and observability </a:t>
            </a:r>
          </a:p>
          <a:p>
            <a:pPr>
              <a:buFont typeface="Arial" panose="020B0604020202020204" pitchFamily="34" charset="0"/>
              <a:buChar char="•"/>
            </a:pPr>
            <a:r>
              <a:rPr lang="en-GB" dirty="0"/>
              <a:t>Cloud deployment </a:t>
            </a:r>
          </a:p>
          <a:p>
            <a:pPr>
              <a:buFont typeface="Arial" panose="020B0604020202020204" pitchFamily="34" charset="0"/>
              <a:buChar char="•"/>
            </a:pPr>
            <a:r>
              <a:rPr lang="en-GB" dirty="0"/>
              <a:t>Advanced analytics </a:t>
            </a:r>
          </a:p>
          <a:p>
            <a:pPr>
              <a:buFont typeface="Arial" panose="020B0604020202020204" pitchFamily="34" charset="0"/>
              <a:buChar char="•"/>
            </a:pPr>
            <a:r>
              <a:rPr lang="en-GB" dirty="0"/>
              <a:t>Notification services </a:t>
            </a:r>
          </a:p>
          <a:p>
            <a:pPr>
              <a:buFont typeface="Arial" panose="020B0604020202020204" pitchFamily="34" charset="0"/>
              <a:buChar char="•"/>
            </a:pPr>
            <a:r>
              <a:rPr lang="en-GB" dirty="0"/>
              <a:t>Improved scalability</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8347</TotalTime>
  <Words>745</Words>
  <Application>Microsoft Office PowerPoint</Application>
  <PresentationFormat>Widescreen</PresentationFormat>
  <Paragraphs>163</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(Body)</vt:lpstr>
      <vt:lpstr>Calibri Light</vt:lpstr>
      <vt:lpstr>Office Theme</vt:lpstr>
      <vt:lpstr>Custom Design</vt:lpstr>
      <vt:lpstr> 1st  REVIEW  TICKET BOOKING SYSTEM(CONCURRENCY SAFE) </vt:lpstr>
      <vt:lpstr>GROUP NUMBER:2</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VOOTLA HEMANTH</cp:lastModifiedBy>
  <cp:revision>95</cp:revision>
  <dcterms:created xsi:type="dcterms:W3CDTF">2022-05-20T10:20:31Z</dcterms:created>
  <dcterms:modified xsi:type="dcterms:W3CDTF">2026-08-16T15:01:17Z</dcterms:modified>
</cp:coreProperties>
</file>