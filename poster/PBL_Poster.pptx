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2080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04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1620" b="1">
                <a:solidFill>
                  <a:srgbClr val="FFFFFF"/>
                </a:solidFill>
                <a:latin typeface="Aptos"/>
              </a:rPr>
              <a:t>UNIVERSAL TICKETS — UNIVERSAL TICKET BOOKING SYSTEM
Team ID: 2  |  Section: 9  |  Members: V. Hemanth – 2520030025, K. Chaitanya – 2520030263, CH. Vivek – 2520030532  |  Guide: Dr. Prasanthi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>
              <a:spcBef>
                <a:spcPts val="0"/>
              </a:spcBef>
              <a:spcAft>
                <a:spcPts val="200"/>
              </a:spcAft>
              <a:buSzPct val="100000"/>
            </a:pPr>
            <a:r>
              <a:rPr sz="1000" b="0" dirty="0">
                <a:solidFill>
                  <a:srgbClr val="1E293B"/>
                </a:solidFill>
                <a:latin typeface="Calibri"/>
              </a:rPr>
              <a:t>• A full-stack distributed ticket booking platform for customers, organizers, verifiers and administrators. It combines React, Spring Boot, </a:t>
            </a:r>
            <a:r>
              <a:rPr sz="1000" b="0" dirty="0" err="1">
                <a:solidFill>
                  <a:srgbClr val="1E293B"/>
                </a:solidFill>
                <a:latin typeface="Calibri"/>
              </a:rPr>
              <a:t>FastAPI</a:t>
            </a:r>
            <a:r>
              <a:rPr sz="1000" b="0" dirty="0">
                <a:solidFill>
                  <a:srgbClr val="1E293B"/>
                </a:solidFill>
                <a:latin typeface="Calibri"/>
              </a:rPr>
              <a:t>, Node.js/Express, MySQL, JWT/</a:t>
            </a:r>
            <a:r>
              <a:rPr sz="1000" b="0" dirty="0" err="1">
                <a:solidFill>
                  <a:srgbClr val="1E293B"/>
                </a:solidFill>
                <a:latin typeface="Calibri"/>
              </a:rPr>
              <a:t>BCrypt</a:t>
            </a:r>
            <a:r>
              <a:rPr sz="1000" b="0" dirty="0">
                <a:solidFill>
                  <a:srgbClr val="1E293B"/>
                </a:solidFill>
                <a:latin typeface="Calibri"/>
              </a:rPr>
              <a:t>, Docker and semantic search using TF-IDF + cosine similarity.</a:t>
            </a:r>
            <a:endParaRPr lang="en-US" sz="155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rgbClr val="1E293B"/>
                </a:solidFill>
                <a:latin typeface="Calibri"/>
              </a:rPr>
              <a:t>Outcome: secure event discovery, role-based access, transactional booking and cancellation, and a polished responsive user experience.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>
              <a:spcBef>
                <a:spcPts val="0"/>
              </a:spcBef>
              <a:spcAft>
                <a:spcPts val="200"/>
              </a:spcAft>
              <a:buSzPct val="100000"/>
            </a:pPr>
            <a:r>
              <a:rPr sz="910" b="0" dirty="0">
                <a:solidFill>
                  <a:srgbClr val="1E293B"/>
                </a:solidFill>
                <a:latin typeface="Calibri"/>
              </a:rPr>
              <a:t>• Problem: Ticket platforms must coordinate secure authentication, multiple roles, event discovery and reliable booking without inconsistent data.</a:t>
            </a:r>
            <a:endParaRPr lang="en-US" sz="155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10" b="0" dirty="0">
                <a:solidFill>
                  <a:srgbClr val="1E293B"/>
                </a:solidFill>
                <a:latin typeface="Calibri"/>
              </a:rPr>
              <a:t>• Objective 1: Provide secure event discovery and ticket booking.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10" b="0" dirty="0">
                <a:solidFill>
                  <a:srgbClr val="1E293B"/>
                </a:solidFill>
                <a:latin typeface="Calibri"/>
              </a:rPr>
              <a:t>• Objective 2: Enforce JWT authentication and role-based access for customer, organizer, verifier and admin roles.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10" b="0" dirty="0">
                <a:solidFill>
                  <a:srgbClr val="1E293B"/>
                </a:solidFill>
                <a:latin typeface="Calibri"/>
              </a:rPr>
              <a:t>• Objective 3: Demonstrate relational DB engineering, REST/microservices, semantic search and containerized deployment.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10" b="0" dirty="0">
                <a:solidFill>
                  <a:srgbClr val="1E293B"/>
                </a:solidFill>
                <a:latin typeface="Calibri"/>
              </a:rPr>
              <a:t>• Scope: Event discovery, booking, cancellation, organizer/verifier/admin workflows and distributed backend services.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617720" cy="2331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Existing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Basic role separation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JWT + BCrypt + backend RBAC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Limited transaction control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ACID transactional booking + compensation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Keyword-oriented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TF-IDF semantic search + cosine similarity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Role Management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Limited separation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Customer / Organizer / Verifier / Admin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Single-backend style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E293B"/>
                          </a:solidFill>
                          <a:latin typeface="Calibri"/>
                        </a:rPr>
                        <a:t>Gateway + Spring Boot + Node.js services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r>
              <a:rPr lang="en-GB" sz="900" b="1" dirty="0"/>
              <a:t>Technical:</a:t>
            </a:r>
            <a:r>
              <a:rPr lang="en-GB" sz="900" dirty="0"/>
              <a:t> Uses React, Spring Boot, </a:t>
            </a:r>
            <a:r>
              <a:rPr lang="en-GB" sz="900" dirty="0" err="1"/>
              <a:t>FastAPI</a:t>
            </a:r>
            <a:r>
              <a:rPr lang="en-GB" sz="900" dirty="0"/>
              <a:t>, Node.js/Express, MySQL, JWT, Docker and GitHub Actions with available development tools.</a:t>
            </a:r>
          </a:p>
          <a:p>
            <a:r>
              <a:rPr lang="en-GB" sz="900" b="1" dirty="0"/>
              <a:t>Economic:</a:t>
            </a:r>
            <a:r>
              <a:rPr lang="en-GB" sz="900" dirty="0"/>
              <a:t> Primarily uses open-source technologies, reducing software licensing and development costs.</a:t>
            </a:r>
          </a:p>
          <a:p>
            <a:r>
              <a:rPr lang="en-GB" sz="900" b="1" dirty="0"/>
              <a:t>Operational:</a:t>
            </a:r>
            <a:r>
              <a:rPr lang="en-GB" sz="900" dirty="0"/>
              <a:t> Provides separate role-based interfaces for customers, organizers, verifiers and administrators, making the system easy to use and maintain.</a:t>
            </a:r>
          </a:p>
          <a:p>
            <a:r>
              <a:rPr lang="en-GB" sz="900" b="1" dirty="0"/>
              <a:t>Schedule:</a:t>
            </a:r>
            <a:r>
              <a:rPr lang="en-GB" sz="900" dirty="0"/>
              <a:t> The system is designed to be developed, tested and demonstrated within the semester PBL timeline.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 algn="l"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sz="819" b="0">
                <a:solidFill>
                  <a:srgbClr val="1E293B"/>
                </a:solidFill>
                <a:latin typeface="Aptos"/>
              </a:rPr>
              <a:t>Frontend: React 18 + Vite
Backend: Java 21 + Spring Boot + FastAPI + Node.js/Express
Database: MySQL 8 + JPA/Hibernate | NoSQL: MongoDB (partial integration)
Security: JWT + BCrypt + RBAC
Search: TF-IDF + Cosine Similarity
Deployment: Docker + Docker Compose | CI/CD: GitHub Actions
API: REST + OpenAPI/Swagger | Monitoring: Spring Actuator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131552"/>
            <a:ext cx="4844034" cy="228600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222992"/>
            <a:ext cx="456971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1380" b="1" dirty="0">
                <a:solidFill>
                  <a:srgbClr val="0F766E"/>
                </a:solidFill>
                <a:latin typeface="Aptos"/>
              </a:rPr>
              <a:t>Implementation </a:t>
            </a:r>
            <a:r>
              <a:rPr lang="en-IN" sz="1380" b="1" dirty="0">
                <a:solidFill>
                  <a:srgbClr val="0F766E"/>
                </a:solidFill>
                <a:latin typeface="Aptos"/>
              </a:rPr>
              <a:t>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70464"/>
            <a:ext cx="2216277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7974711" y="10570464"/>
            <a:ext cx="2216277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70464"/>
            <a:ext cx="2216277" cy="1664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620" b="0">
                <a:solidFill>
                  <a:srgbClr val="1E293B"/>
                </a:solidFill>
                <a:latin typeface="Aptos"/>
              </a:rPr>
              <a:t>SECURITY + ROLE WORKSPACES
• BCrypt hashing + password validation
• JWT access / refresh lifecycle
• Backend RBAC: Customer / Organizer / Verifier / Admin
• FastAPI Swagger + REST APIs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  <a:buSzPct val="100000"/>
            </a:pPr>
            <a:r>
              <a:rPr sz="750" b="0" dirty="0">
                <a:solidFill>
                  <a:srgbClr val="1E293B"/>
                </a:solidFill>
                <a:latin typeface="Aptos"/>
              </a:rPr>
              <a:t>• </a:t>
            </a:r>
            <a:r>
              <a:rPr sz="750" b="0" dirty="0" err="1">
                <a:solidFill>
                  <a:srgbClr val="1E293B"/>
                </a:solidFill>
                <a:latin typeface="Aptos"/>
              </a:rPr>
              <a:t>Vite</a:t>
            </a:r>
            <a:r>
              <a:rPr sz="750" b="0" dirty="0">
                <a:solidFill>
                  <a:srgbClr val="1E293B"/>
                </a:solidFill>
                <a:latin typeface="Aptos"/>
              </a:rPr>
              <a:t> build PASS • Maven PASS (3/3) • </a:t>
            </a:r>
            <a:r>
              <a:rPr sz="750" b="0" dirty="0" err="1">
                <a:solidFill>
                  <a:srgbClr val="1E293B"/>
                </a:solidFill>
                <a:latin typeface="Aptos"/>
              </a:rPr>
              <a:t>Pytest</a:t>
            </a:r>
            <a:r>
              <a:rPr sz="750" b="0" dirty="0">
                <a:solidFill>
                  <a:srgbClr val="1E293B"/>
                </a:solidFill>
                <a:latin typeface="Aptos"/>
              </a:rPr>
              <a:t> PASS (4/4) • Node smoke PASS
• MySQL 8: 30 events, 41 users, 52 bookings verified
• </a:t>
            </a:r>
            <a:r>
              <a:rPr sz="750" b="0" dirty="0" err="1">
                <a:solidFill>
                  <a:srgbClr val="1E293B"/>
                </a:solidFill>
                <a:latin typeface="Aptos"/>
              </a:rPr>
              <a:t>BCrypt</a:t>
            </a:r>
            <a:r>
              <a:rPr sz="750" b="0" dirty="0">
                <a:solidFill>
                  <a:srgbClr val="1E293B"/>
                </a:solidFill>
                <a:latin typeface="Aptos"/>
              </a:rPr>
              <a:t> + JWT + backend RBAC verified
• Responsive 375–1920 </a:t>
            </a:r>
            <a:r>
              <a:rPr sz="750" b="0" dirty="0" err="1">
                <a:solidFill>
                  <a:srgbClr val="1E293B"/>
                </a:solidFill>
                <a:latin typeface="Aptos"/>
              </a:rPr>
              <a:t>px</a:t>
            </a:r>
            <a:r>
              <a:rPr sz="750" b="0" dirty="0">
                <a:solidFill>
                  <a:srgbClr val="1E293B"/>
                </a:solidFill>
                <a:latin typeface="Aptos"/>
              </a:rPr>
              <a:t> • Light/Dark/System themes verified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  <a:buSzPct val="100000"/>
            </a:pPr>
            <a:r>
              <a:rPr sz="750" b="0" dirty="0">
                <a:solidFill>
                  <a:srgbClr val="1E293B"/>
                </a:solidFill>
                <a:latin typeface="Aptos"/>
              </a:rPr>
              <a:t>• Integrates relational database engineering, secure APIs and distributed service design.
• Demonstrates CO1–CO6 concepts through database, backend, security, gateway, microservice, deployment and testing components.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  <a:buSzPct val="100000"/>
            </a:pPr>
            <a:r>
              <a:rPr sz="720" b="0" dirty="0">
                <a:solidFill>
                  <a:srgbClr val="1E293B"/>
                </a:solidFill>
                <a:latin typeface="Aptos"/>
              </a:rPr>
              <a:t>• Dedicated vector database (</a:t>
            </a:r>
            <a:r>
              <a:rPr sz="720" b="0" dirty="0" err="1">
                <a:solidFill>
                  <a:srgbClr val="1E293B"/>
                </a:solidFill>
                <a:latin typeface="Aptos"/>
              </a:rPr>
              <a:t>Qdrant</a:t>
            </a:r>
            <a:r>
              <a:rPr sz="720" b="0" dirty="0">
                <a:solidFill>
                  <a:srgbClr val="1E293B"/>
                </a:solidFill>
                <a:latin typeface="Aptos"/>
              </a:rPr>
              <a:t> / Pinecone / </a:t>
            </a:r>
            <a:r>
              <a:rPr sz="720" b="0" dirty="0" err="1">
                <a:solidFill>
                  <a:srgbClr val="1E293B"/>
                </a:solidFill>
                <a:latin typeface="Aptos"/>
              </a:rPr>
              <a:t>pgvector</a:t>
            </a:r>
            <a:r>
              <a:rPr sz="720" b="0" dirty="0">
                <a:solidFill>
                  <a:srgbClr val="1E293B"/>
                </a:solidFill>
                <a:latin typeface="Aptos"/>
              </a:rPr>
              <a:t>)
• Persistent MongoDB activity storage
• Live Redis + Kafka broker deployment
• External payment gateway + Kubernetes / observability expansion</a:t>
            </a: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570" b="0">
                <a:solidFill>
                  <a:srgbClr val="475569"/>
                </a:solidFill>
                <a:latin typeface="Aptos"/>
              </a:rPr>
              <a:t>References: KLH Course Handout 25CS1302E • Spring Boot • React • FastAPI • MySQL • Docker
CO coverage: CO1 Relational DB • CO2 Semantic Search / NoSQL Concepts • CO3 FastAPI / JWT • CO4 Spring Boot / Node • CO5 Microservices • CO6 Docker / CI-CD</a:t>
            </a:r>
            <a:endParaRPr lang="en-US" sz="1100" dirty="0"/>
          </a:p>
        </p:txBody>
      </p:sp>
      <p:sp>
        <p:nvSpPr>
          <p:cNvPr id="47" name="Rounded Rectangle 46"/>
          <p:cNvSpPr/>
          <p:nvPr/>
        </p:nvSpPr>
        <p:spPr>
          <a:xfrm>
            <a:off x="5771274" y="5243480"/>
            <a:ext cx="1050000" cy="420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E293B"/>
                </a:solidFill>
                <a:latin typeface="Calibri"/>
              </a:rPr>
              <a:t>React + Vite</a:t>
            </a:r>
            <a:br/>
            <a:r>
              <a:rPr sz="650" b="1">
                <a:solidFill>
                  <a:srgbClr val="1E293B"/>
                </a:solidFill>
                <a:latin typeface="Calibri"/>
              </a:rPr>
              <a:t>Frontend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21274" y="5243480"/>
            <a:ext cx="1050000" cy="42000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E293B"/>
                </a:solidFill>
                <a:latin typeface="Calibri"/>
              </a:rPr>
              <a:t>FastAPI</a:t>
            </a:r>
            <a:br/>
            <a:r>
              <a:rPr sz="650" b="1">
                <a:solidFill>
                  <a:srgbClr val="1E293B"/>
                </a:solidFill>
                <a:latin typeface="Calibri"/>
              </a:rPr>
              <a:t>Gateway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71274" y="5243480"/>
            <a:ext cx="1050000" cy="420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E293B"/>
                </a:solidFill>
                <a:latin typeface="Calibri"/>
              </a:rPr>
              <a:t>Spring Boot</a:t>
            </a:r>
            <a:br/>
            <a:r>
              <a:rPr sz="650" b="1">
                <a:solidFill>
                  <a:srgbClr val="1E293B"/>
                </a:solidFill>
                <a:latin typeface="Calibri"/>
              </a:rPr>
              <a:t>Services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21274" y="5903480"/>
            <a:ext cx="1050000" cy="380000"/>
          </a:xfrm>
          <a:prstGeom prst="roundRect">
            <a:avLst/>
          </a:prstGeom>
          <a:solidFill>
            <a:srgbClr val="FFEDD5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00" b="1">
                <a:solidFill>
                  <a:srgbClr val="1E293B"/>
                </a:solidFill>
                <a:latin typeface="Calibri"/>
              </a:rPr>
              <a:t>Node.js + Express</a:t>
            </a:r>
            <a:br/>
            <a:r>
              <a:rPr sz="600" b="1">
                <a:solidFill>
                  <a:srgbClr val="1E293B"/>
                </a:solidFill>
                <a:latin typeface="Calibri"/>
              </a:rPr>
              <a:t>Activity Service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71274" y="6493480"/>
            <a:ext cx="1100000" cy="3800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20" b="1">
                <a:solidFill>
                  <a:srgbClr val="1E293B"/>
                </a:solidFill>
                <a:latin typeface="Calibri"/>
              </a:rPr>
              <a:t>MySQL 8</a:t>
            </a:r>
            <a:br/>
            <a:r>
              <a:rPr sz="620" b="1">
                <a:solidFill>
                  <a:srgbClr val="1E293B"/>
                </a:solidFill>
                <a:latin typeface="Calibri"/>
              </a:rPr>
              <a:t>Relational DB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1274" y="6493480"/>
            <a:ext cx="1250000" cy="380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00" b="1">
                <a:solidFill>
                  <a:srgbClr val="1E293B"/>
                </a:solidFill>
                <a:latin typeface="Calibri"/>
              </a:rPr>
              <a:t>TF-IDF + Cosine</a:t>
            </a:r>
            <a:br/>
            <a:r>
              <a:rPr sz="600" b="1">
                <a:solidFill>
                  <a:srgbClr val="1E293B"/>
                </a:solidFill>
                <a:latin typeface="Calibri"/>
              </a:rPr>
              <a:t>Semantic Search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71274" y="6493480"/>
            <a:ext cx="1100000" cy="3800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80" b="1">
                <a:solidFill>
                  <a:srgbClr val="1E293B"/>
                </a:solidFill>
                <a:latin typeface="Calibri"/>
              </a:rPr>
              <a:t>Docker / Compose</a:t>
            </a:r>
            <a:br/>
            <a:r>
              <a:rPr sz="580" b="1">
                <a:solidFill>
                  <a:srgbClr val="1E293B"/>
                </a:solidFill>
                <a:latin typeface="Calibri"/>
              </a:rPr>
              <a:t>JWT / Actuator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821274" y="0"/>
            <a:ext cx="70000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571274" y="0"/>
            <a:ext cx="30000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5663480"/>
            <a:ext cx="0" cy="2400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0" y="5663480"/>
            <a:ext cx="0" cy="8300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21274" y="0"/>
            <a:ext cx="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771274" y="6853480"/>
            <a:ext cx="4240000" cy="180000"/>
          </a:xfrm>
          <a:prstGeom prst="rect">
            <a:avLst/>
          </a:prstGeom>
          <a:noFill/>
        </p:spPr>
        <p:txBody>
          <a:bodyPr wrap="square" lIns="254" tIns="254" rIns="254" bIns="25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509" b="0">
                <a:solidFill>
                  <a:srgbClr val="475569"/>
                </a:solidFill>
                <a:latin typeface="Calibri"/>
              </a:rPr>
              <a:t>Redis locking (PARTIAL)  •  Kafka producer integration (PARTIAL)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71274" y="8113840"/>
            <a:ext cx="1150000" cy="510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30" b="1">
                <a:solidFill>
                  <a:srgbClr val="1E293B"/>
                </a:solidFill>
                <a:latin typeface="Calibri"/>
              </a:rPr>
              <a:t>USERS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PK user_id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email UNIQUE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21274" y="8113840"/>
            <a:ext cx="1150000" cy="51000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30" b="1">
                <a:solidFill>
                  <a:srgbClr val="1E293B"/>
                </a:solidFill>
                <a:latin typeface="Calibri"/>
              </a:rPr>
              <a:t>EVENTS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PK event_id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FK organizer_id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21274" y="8113840"/>
            <a:ext cx="1150000" cy="510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30" b="1">
                <a:solidFill>
                  <a:srgbClr val="1E293B"/>
                </a:solidFill>
                <a:latin typeface="Calibri"/>
              </a:rPr>
              <a:t>ORGANIZER_PROFILES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PK organizer_id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verified_by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21274" y="8893840"/>
            <a:ext cx="1150000" cy="510000"/>
          </a:xfrm>
          <a:prstGeom prst="roundRect">
            <a:avLst/>
          </a:prstGeom>
          <a:solidFill>
            <a:srgbClr val="FFEDD5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30" b="1">
                <a:solidFill>
                  <a:srgbClr val="1E293B"/>
                </a:solidFill>
                <a:latin typeface="Calibri"/>
              </a:rPr>
              <a:t>BOOKINGS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PK booking_id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FK user_id, event_id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71274" y="8893840"/>
            <a:ext cx="1150000" cy="5100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30" b="1">
                <a:solidFill>
                  <a:srgbClr val="1E293B"/>
                </a:solidFill>
                <a:latin typeface="Calibri"/>
              </a:rPr>
              <a:t>PAYMENTS / CANCELLATIONS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booking_id FK</a:t>
            </a:r>
            <a:br/>
            <a:r>
              <a:rPr sz="530" b="1">
                <a:solidFill>
                  <a:srgbClr val="1E293B"/>
                </a:solidFill>
                <a:latin typeface="Calibri"/>
              </a:rPr>
              <a:t>status + totals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881274" y="8273840"/>
            <a:ext cx="44000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951274" y="8213840"/>
            <a:ext cx="300000" cy="120000"/>
          </a:xfrm>
          <a:prstGeom prst="rect">
            <a:avLst/>
          </a:prstGeom>
          <a:noFill/>
        </p:spPr>
        <p:txBody>
          <a:bodyPr wrap="square" lIns="127" tIns="127" rIns="127" bIns="127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50" b="0">
                <a:solidFill>
                  <a:srgbClr val="64748B"/>
                </a:solidFill>
                <a:latin typeface="Calibri"/>
              </a:rPr>
              <a:t>books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71274" y="8373840"/>
            <a:ext cx="35000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496274" y="8313840"/>
            <a:ext cx="300000" cy="120000"/>
          </a:xfrm>
          <a:prstGeom prst="rect">
            <a:avLst/>
          </a:prstGeom>
          <a:noFill/>
        </p:spPr>
        <p:txBody>
          <a:bodyPr wrap="square" lIns="127" tIns="127" rIns="127" bIns="127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50" b="0">
                <a:solidFill>
                  <a:srgbClr val="64748B"/>
                </a:solidFill>
                <a:latin typeface="Calibri"/>
              </a:rPr>
              <a:t>organizes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7021274" y="8623840"/>
            <a:ext cx="600000" cy="2700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171274" y="8698840"/>
            <a:ext cx="300000" cy="120000"/>
          </a:xfrm>
          <a:prstGeom prst="rect">
            <a:avLst/>
          </a:prstGeom>
          <a:noFill/>
        </p:spPr>
        <p:txBody>
          <a:bodyPr wrap="square" lIns="127" tIns="127" rIns="127" bIns="127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50" b="0">
                <a:solidFill>
                  <a:srgbClr val="64748B"/>
                </a:solidFill>
                <a:latin typeface="Calibri"/>
              </a:rPr>
              <a:t>creates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8271274" y="8883840"/>
            <a:ext cx="450000" cy="100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346274" y="8828840"/>
            <a:ext cx="300000" cy="120000"/>
          </a:xfrm>
          <a:prstGeom prst="rect">
            <a:avLst/>
          </a:prstGeom>
          <a:noFill/>
        </p:spPr>
        <p:txBody>
          <a:bodyPr wrap="square" lIns="127" tIns="127" rIns="127" bIns="127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50" b="0">
                <a:solidFill>
                  <a:srgbClr val="64748B"/>
                </a:solidFill>
                <a:latin typeface="Calibri"/>
              </a:rPr>
              <a:t>pays/cancels</a:t>
            </a:r>
          </a:p>
        </p:txBody>
      </p:sp>
      <p:pic>
        <p:nvPicPr>
          <p:cNvPr id="73" name="Picture 72" descr="github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000" y="14252000"/>
            <a:ext cx="900000" cy="900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440000" y="14204000"/>
            <a:ext cx="900000" cy="300000"/>
          </a:xfrm>
          <a:prstGeom prst="rect">
            <a:avLst/>
          </a:prstGeom>
          <a:noFill/>
        </p:spPr>
        <p:txBody>
          <a:bodyPr wrap="square" lIns="254" tIns="254" rIns="254" bIns="25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20" b="0">
                <a:solidFill>
                  <a:srgbClr val="64748B"/>
                </a:solidFill>
                <a:latin typeface="Calibri"/>
              </a:rPr>
              <a:t>GitHub QR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0" y="7406640"/>
            <a:ext cx="4846320" cy="25146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623560" y="7498079"/>
            <a:ext cx="4572000" cy="320040"/>
          </a:xfrm>
          <a:prstGeom prst="rect">
            <a:avLst/>
          </a:prstGeom>
          <a:noFill/>
        </p:spPr>
        <p:txBody>
          <a:bodyPr wrap="square" lIns="508" tIns="508" rIns="508" bIns="508" anchor="t">
            <a:spAutoFit/>
          </a:bodyPr>
          <a:lstStyle/>
          <a:p>
            <a:pPr algn="l"/>
            <a:r>
              <a:rPr sz="1500" b="1">
                <a:solidFill>
                  <a:srgbClr val="C2410C"/>
                </a:solidFill>
                <a:latin typeface="Aptos"/>
              </a:rPr>
              <a:t>ER Diagram &amp; Database Design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23560" y="7790688"/>
            <a:ext cx="4572000" cy="219456"/>
          </a:xfrm>
          <a:prstGeom prst="rect">
            <a:avLst/>
          </a:prstGeom>
          <a:noFill/>
        </p:spPr>
        <p:txBody>
          <a:bodyPr wrap="square" lIns="508" tIns="508" rIns="508" bIns="508" anchor="t">
            <a:spAutoFit/>
          </a:bodyPr>
          <a:lstStyle/>
          <a:p>
            <a:pPr algn="ctr"/>
            <a:r>
              <a:rPr sz="650" b="1">
                <a:solidFill>
                  <a:srgbClr val="64748B"/>
                </a:solidFill>
                <a:latin typeface="Aptos"/>
              </a:rPr>
              <a:t>Actual MySQL EER diagram — 8-table relational schema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87568" y="8065008"/>
            <a:ext cx="444398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Picture 78" descr="image(20261002-06175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137" y="8129016"/>
            <a:ext cx="1122844" cy="144475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650992" y="9665208"/>
            <a:ext cx="4572000" cy="182880"/>
          </a:xfrm>
          <a:prstGeom prst="rect">
            <a:avLst/>
          </a:prstGeom>
          <a:noFill/>
        </p:spPr>
        <p:txBody>
          <a:bodyPr wrap="square" lIns="508" tIns="508" rIns="508" bIns="508" anchor="t">
            <a:spAutoFit/>
          </a:bodyPr>
          <a:lstStyle/>
          <a:p>
            <a:pPr algn="ctr"/>
            <a:r>
              <a:rPr sz="580" b="0">
                <a:solidFill>
                  <a:srgbClr val="475569"/>
                </a:solidFill>
                <a:latin typeface="Aptos"/>
              </a:rPr>
              <a:t>Users • Organizers • Venues • Events • Bookings • Payments • Cancellations • Verifiers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0" y="7406640"/>
            <a:ext cx="4846320" cy="26974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623560" y="7498079"/>
            <a:ext cx="4572000" cy="301752"/>
          </a:xfrm>
          <a:prstGeom prst="rect">
            <a:avLst/>
          </a:prstGeom>
          <a:noFill/>
        </p:spPr>
        <p:txBody>
          <a:bodyPr wrap="square" lIns="508" tIns="508" rIns="508" bIns="508" anchor="t">
            <a:spAutoFit/>
          </a:bodyPr>
          <a:lstStyle/>
          <a:p>
            <a:pPr algn="l"/>
            <a:r>
              <a:rPr sz="1450" b="1">
                <a:solidFill>
                  <a:srgbClr val="C2410C"/>
                </a:solidFill>
                <a:latin typeface="Aptos"/>
              </a:rPr>
              <a:t>ER Diagram &amp; Database Design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23560" y="7772400"/>
            <a:ext cx="4572000" cy="201168"/>
          </a:xfrm>
          <a:prstGeom prst="rect">
            <a:avLst/>
          </a:prstGeom>
          <a:noFill/>
        </p:spPr>
        <p:txBody>
          <a:bodyPr wrap="square" lIns="508" tIns="508" rIns="508" bIns="508" anchor="t">
            <a:spAutoFit/>
          </a:bodyPr>
          <a:lstStyle/>
          <a:p>
            <a:pPr algn="ctr"/>
            <a:r>
              <a:rPr sz="620" b="1">
                <a:solidFill>
                  <a:srgbClr val="64748B"/>
                </a:solidFill>
                <a:latin typeface="Aptos"/>
              </a:rPr>
              <a:t>Actual MySQL EER diagram — 8-table relational schema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0" y="8028431"/>
            <a:ext cx="44805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198" y="8087867"/>
            <a:ext cx="1314722" cy="169164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623560" y="9884664"/>
            <a:ext cx="4572000" cy="155448"/>
          </a:xfrm>
          <a:prstGeom prst="rect">
            <a:avLst/>
          </a:prstGeom>
          <a:noFill/>
        </p:spPr>
        <p:txBody>
          <a:bodyPr wrap="square" lIns="508" tIns="508" rIns="508" bIns="508" anchor="t">
            <a:spAutoFit/>
          </a:bodyPr>
          <a:lstStyle/>
          <a:p>
            <a:pPr algn="ctr"/>
            <a:r>
              <a:rPr sz="550" b="0">
                <a:solidFill>
                  <a:srgbClr val="475569"/>
                </a:solidFill>
                <a:latin typeface="Aptos"/>
              </a:rPr>
              <a:t>Users • Organizers • Verifiers • Venues • Events • Bookings • Payments • Cancellations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5EF9235-CE3B-B84F-9CC4-2F5489F68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3710" y="10524744"/>
            <a:ext cx="2291404" cy="176317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61AD1635-5E0D-20EA-F123-03A8C677F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5124" y="10531856"/>
            <a:ext cx="2235449" cy="1761048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C63E288E-CE52-AEAC-4B53-35D89E5AAF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4114" y="5015845"/>
            <a:ext cx="4556366" cy="2032115"/>
          </a:xfrm>
          <a:prstGeom prst="rect">
            <a:avLst/>
          </a:prstGeom>
        </p:spPr>
      </p:pic>
      <p:pic>
        <p:nvPicPr>
          <p:cNvPr id="102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AF4977A6-7311-964C-FAFC-7841FF426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49" y="396211"/>
            <a:ext cx="1321371" cy="98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841</Words>
  <Application>Microsoft Office PowerPoint</Application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VOOTLA HEMANTH</cp:lastModifiedBy>
  <cp:revision>2</cp:revision>
  <dcterms:created xsi:type="dcterms:W3CDTF">2026-09-28T08:11:17Z</dcterms:created>
  <dcterms:modified xsi:type="dcterms:W3CDTF">2026-10-02T07:39:02Z</dcterms:modified>
</cp:coreProperties>
</file>